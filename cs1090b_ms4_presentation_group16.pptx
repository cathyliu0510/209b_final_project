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0a59985dd_6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e0a59985dd_6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e0a59985dd_6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0a59985dd_6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0a59985dd_6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0a59985dd_6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0a59985dd_6_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e0a59985dd_6_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e0a59985dd_6_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a59985dd_6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0a59985dd_6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0a59985dd_6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a59985dd_6_1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0a59985dd_6_1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0a59985dd_6_1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0a59985dd_6_1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0a59985dd_6_1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0a59985dd_6_1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0a59985dd_6_2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e0a59985dd_6_2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0a59985dd_6_2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0a59985dd_6_2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0a59985dd_6_2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0a59985dd_6_2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0a59985dd_6_2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e0a59985dd_6_2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0a59985dd_6_2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0a59985dd_6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e0a59985dd_6_31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0a59985dd_6_31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0a59985dd_6_3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e0a59985dd_6_3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0a59985dd_6_3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0a59985dd_6_3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e0a59985dd_6_3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0a59985dd_6_3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0a59985dd_6_4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e0a59985dd_6_4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0a59985dd_6_4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0a59985dd_6_4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e0a59985dd_6_4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e0a59985dd_6_4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530352" y="457200"/>
            <a:ext cx="6400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3800"/>
              <a:buFont typeface="Montserrat"/>
              <a:buNone/>
            </a:pPr>
            <a:r>
              <a:rPr b="1" i="0" lang="en" sz="3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URBAN EXPANSION VS.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3800"/>
              <a:buFont typeface="Montserrat"/>
              <a:buNone/>
            </a:pPr>
            <a:r>
              <a:rPr b="1" i="0" lang="en" sz="3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ACTIVITY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30352" y="242316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500"/>
              <a:buFont typeface="Montserrat"/>
              <a:buNone/>
            </a:pPr>
            <a:r>
              <a:rPr b="0" i="0" lang="en" sz="15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Satellite-only economic analogue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500"/>
              <a:buFont typeface="Montserrat"/>
              <a:buNone/>
            </a:pPr>
            <a:r>
              <a:rPr b="0" i="0" lang="en" sz="15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across 30 U.S. metros, 2013-2023.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30352" y="3090672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AC209B / CS1090B  Final Project  Group 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30352" y="336499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github.com/cathyliu0510/209b_Final_Project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30352" y="3621022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Minh Tran, Cathy Liu, Jenny Zhu, Maddy Jin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PROBLEM + APPROACH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RETRIEVAL USES SIGNAL THAT REGRESSION MISSES</a:t>
            </a:r>
            <a:endParaRPr b="1" sz="18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932688"/>
            <a:ext cx="3858900" cy="3931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11480" y="932688"/>
            <a:ext cx="3858900" cy="50400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02920" y="1005840"/>
            <a:ext cx="3657600" cy="23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DIRECT REGRESSION</a:t>
            </a:r>
            <a:endParaRPr b="1" sz="900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1298448"/>
            <a:ext cx="36576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→ GDP value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719072"/>
            <a:ext cx="36576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1755648"/>
            <a:ext cx="3657600" cy="23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85% of GDP variance is between cities, driven by size and geography.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Pooled satellite vs. GDP correlation is near zero: r ≈ 0.01.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regression must compress city differences and noisy yearly changes into one prediction.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4133088"/>
            <a:ext cx="255900" cy="2559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32688" y="4133088"/>
            <a:ext cx="32004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Fails on small panel, noisy cross-city signal</a:t>
            </a:r>
            <a:endParaRPr b="0" sz="111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06824" y="2514600"/>
            <a:ext cx="51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6EA"/>
              </a:buClr>
              <a:buSzPts val="2600"/>
              <a:buFont typeface="Montserrat"/>
              <a:buNone/>
            </a:pPr>
            <a:r>
              <a:rPr b="0" i="0" lang="en" sz="2600" u="none" cap="none" strike="noStrike">
                <a:solidFill>
                  <a:srgbClr val="E2E6EA"/>
                </a:solidFill>
                <a:latin typeface="Montserrat"/>
                <a:ea typeface="Montserrat"/>
                <a:cs typeface="Montserrat"/>
                <a:sym typeface="Montserrat"/>
              </a:rPr>
              <a:t>-&gt;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73752" y="932688"/>
            <a:ext cx="3858900" cy="39318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73752" y="932688"/>
            <a:ext cx="38589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965192" y="1005840"/>
            <a:ext cx="3657600" cy="23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ANALOGUE RETRIEVAL</a:t>
            </a:r>
            <a:endParaRPr b="1" sz="9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965192" y="1298448"/>
            <a:ext cx="36576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→ similar city-years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965192" y="1719072"/>
            <a:ext cx="36576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965192" y="1755648"/>
            <a:ext cx="3657600" cy="23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 so the image space carries economic meaning.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test time: an image alone retrieves the most economically similar city-years from history.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Their GDP becomes the estimate. No economic data needed at inference.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10912" y="4133088"/>
            <a:ext cx="255900" cy="255900"/>
          </a:xfrm>
          <a:prstGeom prst="ellipse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303520" y="4133088"/>
            <a:ext cx="33375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B7B4B"/>
                </a:solidFill>
                <a:latin typeface="Montserrat"/>
                <a:ea typeface="Montserrat"/>
                <a:cs typeface="Montserrat"/>
                <a:sym typeface="Montserrat"/>
              </a:rPr>
              <a:t>Robust, interpretable, satellite-only at test</a:t>
            </a:r>
            <a:endParaRPr b="0" sz="1200">
              <a:solidFill>
                <a:srgbClr val="1B7B4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 30-METRO PANEL WITH A STRICT TEMPORAL HOLDOUT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1148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1148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U.S. metro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60604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330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60604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city-year ob</a:t>
            </a: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0060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2020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0060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excluded (COVID)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99516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99516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data 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11480" y="1920240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11480" y="197510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TEMPORAL SPLIT  -  split by years, not metros, to test generalization to unseen future periods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11480" y="2267712"/>
            <a:ext cx="3749040" cy="53035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1480" y="229514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2514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2013-2018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69664" y="2267712"/>
            <a:ext cx="1051560" cy="530352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169664" y="229514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69664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230368" y="2267712"/>
            <a:ext cx="1005840" cy="530352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230368" y="229514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EXCLUDED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230368" y="25146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45352" y="2267712"/>
            <a:ext cx="2496312" cy="530352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245352" y="2295144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45352" y="2514600"/>
            <a:ext cx="2496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2021-23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288036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2020 excluded: COVID created a structural break that sequence models cannot learn across.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3200400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11480" y="3291840"/>
            <a:ext cx="20574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0292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MODIS RGB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35956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isible urban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texture &amp; land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3977640"/>
            <a:ext cx="896112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260604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606040" y="3291840"/>
            <a:ext cx="2057400" cy="50292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69748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VIIRS Nightlights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697480" y="35194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conomic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activity proxy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252" y="3977640"/>
            <a:ext cx="9601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480060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800600" y="3291840"/>
            <a:ext cx="2057400" cy="50292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89204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GHSL Built-up Mask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36083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rbanization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ground truth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812" y="3977640"/>
            <a:ext cx="9601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699516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995160" y="3291840"/>
            <a:ext cx="2057400" cy="50292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8660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BEA / BLS Panel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86600" y="362102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GDP - Unemployment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Total Wages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068312" y="3977640"/>
            <a:ext cx="1920240" cy="914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068312" y="39776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GDP - Employment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Unemployment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Total Wages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9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FINDINGS 1 &amp; 2: COVID BREAK AND CROSS-CITY VARIANCE.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11480" y="932688"/>
            <a:ext cx="4114800" cy="3950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11480" y="932688"/>
            <a:ext cx="4114800" cy="50292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02920" y="10058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850"/>
              <a:buFont typeface="Montserrat"/>
              <a:buNone/>
            </a:pPr>
            <a:r>
              <a:rPr b="1" i="0" lang="en" sz="1050" u="none" cap="none" strike="noStrike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FINDING 1 - COVID 2020 STRUCTURAL BREAK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1243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450"/>
              <a:buFont typeface="Montserrat"/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2020 is a hard break: unemployment spikes while built-up area stays flat.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900" y="1645925"/>
            <a:ext cx="3805949" cy="28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525770" y="4416915"/>
            <a:ext cx="388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Sequence models cannot bridge this discontinuity. Exclude 2020 from all 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617720" y="932688"/>
            <a:ext cx="4114800" cy="3950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617720" y="932688"/>
            <a:ext cx="41148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709160" y="10058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50"/>
              <a:buFont typeface="Montserrat"/>
              <a:buNone/>
            </a:pPr>
            <a:r>
              <a:rPr b="1" i="0" lang="en" sz="105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FINDING 2 - </a:t>
            </a:r>
            <a:r>
              <a:rPr b="1" lang="en" sz="10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FINDING 2 - EXPANSION TRACKS GDP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709160" y="1243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450"/>
              <a:buFont typeface="Montserrat"/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Built-up area growth is positively associated with GDP growth before COVID.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32023" y="4416978"/>
            <a:ext cx="388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Faster built-up area growth aligns with higher GDP growth (r = 0.52, n = 30).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51" y="1659650"/>
            <a:ext cx="3931925" cy="2723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5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 3: </a:t>
            </a: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 3: SATELLITE SIGNAL IS WEAK ACROSS CITIES, STRONGER WITHIN CITIES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11480" y="932688"/>
            <a:ext cx="4160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770"/>
              </a:buClr>
              <a:buSzPts val="850"/>
              <a:buFont typeface="Montserrat"/>
              <a:buNone/>
            </a:pPr>
            <a:r>
              <a:rPr b="1" i="0" lang="en" sz="850" u="none" cap="none" strike="noStrike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POOLED ACROSS ALL CITIES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1480" y="118872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2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 = 0.01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3">
            <a:alphaModFix/>
          </a:blip>
          <a:srcRect b="46759" l="0" r="49128" t="7906"/>
          <a:stretch/>
        </p:blipFill>
        <p:spPr>
          <a:xfrm>
            <a:off x="293400" y="1602798"/>
            <a:ext cx="4160398" cy="301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411480" y="4672584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i="1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VIIRS Mean vs. GDP, pooled across all metros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932688"/>
            <a:ext cx="18288" cy="4133088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54880" y="93268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50"/>
              <a:buFont typeface="Montserrat"/>
              <a:buNone/>
            </a:pPr>
            <a:r>
              <a:rPr b="1" i="0" lang="en" sz="85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WITHIN EACH METRO (TEMPORAL)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754880" y="1188720"/>
            <a:ext cx="391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2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 = 0.3 to 0.7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75" y="1639475"/>
            <a:ext cx="4168235" cy="14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4754875" y="3079000"/>
            <a:ext cx="4071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1" lang="en" sz="9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Within-metro VIIRS vs. GDP, Employment, Permits, Unemployment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73080" y="3440533"/>
            <a:ext cx="3913500" cy="15729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891375" y="3512175"/>
            <a:ext cx="39135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The signal appears within cities over time, not when all cities are pooled.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Pooled regression mixes fixed city differences with real economic change.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We need city-aware representations that separate city identity from temporal change.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MODEL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TRAIN WITH BOTH MODALITIES. </a:t>
            </a:r>
            <a:endParaRPr b="1" i="0" sz="18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AT INFERENCE, SATELLITE IMAGERY ONLY.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11480" y="932688"/>
            <a:ext cx="8321100" cy="18744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11480" y="932688"/>
            <a:ext cx="749700" cy="1874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11480" y="932688"/>
            <a:ext cx="749700" cy="187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298448" y="1042416"/>
            <a:ext cx="1417200" cy="6858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316736" y="1060704"/>
            <a:ext cx="138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 imagery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316736" y="1335024"/>
            <a:ext cx="13806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MODIS + VIIRS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4-channel input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734056" y="12801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035808" y="1042416"/>
            <a:ext cx="1508700" cy="6858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081528" y="1088136"/>
            <a:ext cx="141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Finetuned ResNet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081528" y="1426464"/>
            <a:ext cx="141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GHSL supervised</a:t>
            </a:r>
            <a:endParaRPr b="0" sz="8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62856" y="12801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98448" y="1920240"/>
            <a:ext cx="1417200" cy="6858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316736" y="1938528"/>
            <a:ext cx="138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Economic data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16736" y="2212848"/>
            <a:ext cx="13806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GDP, employment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unemployment etc.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34056" y="2157984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035808" y="1920240"/>
            <a:ext cx="1508700" cy="6858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081528" y="1965960"/>
            <a:ext cx="141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MLP Encoder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081528" y="2304288"/>
            <a:ext cx="141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economic</a:t>
            </a:r>
            <a:endParaRPr b="0" sz="8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62856" y="2157984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864608" y="1005840"/>
            <a:ext cx="19659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910328" y="1042416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Contrastive VAE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910328" y="1408176"/>
            <a:ext cx="187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with InfoNCE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contrastive 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910353" y="1833924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16-D shared </a:t>
            </a:r>
            <a:endParaRPr b="0" i="0" sz="12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7755" y="2302256"/>
            <a:ext cx="237600" cy="2376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826083" y="2302256"/>
            <a:ext cx="237600" cy="237600"/>
          </a:xfrm>
          <a:prstGeom prst="ellipse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8"/>
          <p:cNvCxnSpPr/>
          <p:nvPr/>
        </p:nvCxnSpPr>
        <p:spPr>
          <a:xfrm>
            <a:off x="5725357" y="2421128"/>
            <a:ext cx="100500" cy="0"/>
          </a:xfrm>
          <a:prstGeom prst="straightConnector1">
            <a:avLst/>
          </a:prstGeom>
          <a:noFill/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/>
          <p:nvPr/>
        </p:nvSpPr>
        <p:spPr>
          <a:xfrm>
            <a:off x="6848856" y="17373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150608" y="1097280"/>
            <a:ext cx="1444800" cy="148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150608" y="1133856"/>
            <a:ext cx="14448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latent DB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150608" y="1645920"/>
            <a:ext cx="14448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180 city-years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known GDP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(2013-2018)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11480" y="2944368"/>
            <a:ext cx="8321100" cy="1956900"/>
          </a:xfrm>
          <a:prstGeom prst="rect">
            <a:avLst/>
          </a:prstGeom>
          <a:solidFill>
            <a:srgbClr val="FFF4EE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11480" y="2944368"/>
            <a:ext cx="749700" cy="1956900"/>
          </a:xfrm>
          <a:prstGeom prst="rect">
            <a:avLst/>
          </a:prstGeom>
          <a:solidFill>
            <a:srgbClr val="E07B39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11480" y="2944368"/>
            <a:ext cx="749700" cy="19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INFER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298448" y="2999232"/>
            <a:ext cx="5303400" cy="255900"/>
          </a:xfrm>
          <a:prstGeom prst="rect">
            <a:avLst/>
          </a:prstGeom>
          <a:solidFill>
            <a:srgbClr val="FFECE0"/>
          </a:solidFill>
          <a:ln cap="flat" cmpd="sng" w="12700">
            <a:solidFill>
              <a:srgbClr val="FFE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298448" y="2999232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AT INFERENCE - economic branch dropped entirely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298448" y="3346704"/>
            <a:ext cx="1664100" cy="1298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344168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imagery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344168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economic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 query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805817" y="3971754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209544" y="3346704"/>
            <a:ext cx="1664100" cy="1298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255264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Image-only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55264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120640" y="3346704"/>
            <a:ext cx="1664100" cy="1298400"/>
          </a:xfrm>
          <a:prstGeom prst="rect">
            <a:avLst/>
          </a:prstGeom>
          <a:solidFill>
            <a:srgbClr val="E07B39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166360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k-NN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166360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nearest historical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city-year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031736" y="3346704"/>
            <a:ext cx="1664100" cy="12984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077456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estimate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077456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erage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 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47012" y="4052888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679863" y="4041629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SATELLITE ENCODER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7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SATELLITE ENCODER: FINE-TUNED RESNET WITH GHSL SUPERVISION.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59080" y="1005840"/>
            <a:ext cx="1828800" cy="18288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990" l="0" r="0" t="980"/>
          <a:stretch/>
        </p:blipFill>
        <p:spPr>
          <a:xfrm>
            <a:off x="304800" y="1051560"/>
            <a:ext cx="1737300" cy="17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259080" y="2880360"/>
            <a:ext cx="1828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8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MODIS RGB 250m satellite</a:t>
            </a:r>
            <a:endParaRPr b="1" sz="1018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114550" y="178308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453640" y="1005840"/>
            <a:ext cx="2103000" cy="1828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2499360" y="1097280"/>
            <a:ext cx="2011800" cy="65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Fine-tuned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ResNet-18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499360" y="1806448"/>
            <a:ext cx="2011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GHSL built-up area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regression loss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(BCE + Dice)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453640" y="2880348"/>
            <a:ext cx="2103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GHSL urbanization mask</a:t>
            </a:r>
            <a:endParaRPr sz="1018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used as supervision target</a:t>
            </a:r>
            <a:endParaRPr sz="1018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606040" y="3246120"/>
            <a:ext cx="2103000" cy="14631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4">
            <a:alphaModFix/>
          </a:blip>
          <a:srcRect b="12383" l="0" r="0" t="12383"/>
          <a:stretch/>
        </p:blipFill>
        <p:spPr>
          <a:xfrm>
            <a:off x="2702281" y="3291840"/>
            <a:ext cx="19107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2606040" y="4709160"/>
            <a:ext cx="2103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GHSL binary mask - urbanization ground truth</a:t>
            </a:r>
            <a:endParaRPr i="1" sz="100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81525" y="178308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22520" y="1005840"/>
            <a:ext cx="1783200" cy="1828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968240" y="1097280"/>
            <a:ext cx="16917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512-D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embedding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968240" y="1874520"/>
            <a:ext cx="1691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urbanization encoded from GHSL</a:t>
            </a:r>
            <a:endParaRPr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22520" y="2857960"/>
            <a:ext cx="1783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→ projection head</a:t>
            </a:r>
            <a:endParaRPr i="1" sz="11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934152" y="1737895"/>
            <a:ext cx="1965900" cy="685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975300" y="1785520"/>
            <a:ext cx="18837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Centroid separation improves from 1.217 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to 1.418 (+16%)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4888925" y="3700625"/>
            <a:ext cx="431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GHSL supervision makes the encoder focus on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urbanization structure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not raw image appearance.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ECONOMIC ENCODER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001000" y="73152"/>
            <a:ext cx="7314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ENCODER: MLP SELECTED OVER GRU AND LSTM.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11480" y="932688"/>
            <a:ext cx="18288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1005840"/>
            <a:ext cx="17373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Data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1389888"/>
            <a:ext cx="1737300" cy="6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GDP growth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Unemployment rate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Log-wages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11480" y="2624328"/>
            <a:ext cx="18288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2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Economic input</a:t>
            </a:r>
            <a:endParaRPr b="0" sz="102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258568" y="1664208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606040" y="932688"/>
            <a:ext cx="21030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2651760" y="987552"/>
            <a:ext cx="2011800" cy="65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MLP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651760" y="1664208"/>
            <a:ext cx="2011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Static per-year</a:t>
            </a:r>
            <a:endParaRPr b="0" sz="13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606040" y="2624328"/>
            <a:ext cx="2103000" cy="2559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2606040" y="2624328"/>
            <a:ext cx="21030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COVID 2020 breaks GRU/LSTM sequence assumptions</a:t>
            </a:r>
            <a:endParaRPr b="0" i="1" sz="7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727448" y="1664208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074920" y="932688"/>
            <a:ext cx="17373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120640" y="987552"/>
            <a:ext cx="16458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64-D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embedding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120640" y="1792224"/>
            <a:ext cx="164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economic state</a:t>
            </a:r>
            <a:endParaRPr b="0" sz="110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per city-year</a:t>
            </a:r>
            <a:endParaRPr b="0" sz="110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074920" y="2624328"/>
            <a:ext cx="17373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2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→ projection head</a:t>
            </a:r>
            <a:endParaRPr b="0" i="1" sz="102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8" name="Google Shape;258;p10"/>
          <p:cNvGrpSpPr/>
          <p:nvPr/>
        </p:nvGrpSpPr>
        <p:grpSpPr>
          <a:xfrm>
            <a:off x="6905625" y="932688"/>
            <a:ext cx="2009715" cy="1877112"/>
            <a:chOff x="6905625" y="932688"/>
            <a:chExt cx="2009715" cy="1877112"/>
          </a:xfrm>
        </p:grpSpPr>
        <p:sp>
          <p:nvSpPr>
            <p:cNvPr id="259" name="Google Shape;259;p10"/>
            <p:cNvSpPr txBox="1"/>
            <p:nvPr/>
          </p:nvSpPr>
          <p:spPr>
            <a:xfrm>
              <a:off x="6949440" y="932688"/>
              <a:ext cx="196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0223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Economic Encoder Comparison</a:t>
              </a:r>
              <a:endParaRPr b="1" sz="925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7239000" y="1238250"/>
              <a:ext cx="1333500" cy="96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7239000" y="1524000"/>
              <a:ext cx="1333500" cy="96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7239000" y="1809750"/>
              <a:ext cx="1333500" cy="96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7239000" y="2095500"/>
              <a:ext cx="1333500" cy="96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7239000" y="1238250"/>
              <a:ext cx="9600" cy="8574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0"/>
            <p:cNvGrpSpPr/>
            <p:nvPr/>
          </p:nvGrpSpPr>
          <p:grpSpPr>
            <a:xfrm>
              <a:off x="6905625" y="1314450"/>
              <a:ext cx="695475" cy="171600"/>
              <a:chOff x="6905625" y="1314450"/>
              <a:chExt cx="695475" cy="171600"/>
            </a:xfrm>
          </p:grpSpPr>
          <p:sp>
            <p:nvSpPr>
              <p:cNvPr id="266" name="Google Shape;266;p10"/>
              <p:cNvSpPr/>
              <p:nvPr/>
            </p:nvSpPr>
            <p:spPr>
              <a:xfrm>
                <a:off x="7239000" y="1314450"/>
                <a:ext cx="57300" cy="171600"/>
              </a:xfrm>
              <a:prstGeom prst="rect">
                <a:avLst/>
              </a:prstGeom>
              <a:solidFill>
                <a:srgbClr val="017E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0"/>
              <p:cNvSpPr txBox="1"/>
              <p:nvPr/>
            </p:nvSpPr>
            <p:spPr>
              <a:xfrm>
                <a:off x="7315200" y="13144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0.056</a:t>
                </a:r>
                <a:endParaRPr b="1" sz="7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68" name="Google Shape;268;p10"/>
              <p:cNvSpPr txBox="1"/>
              <p:nvPr/>
            </p:nvSpPr>
            <p:spPr>
              <a:xfrm>
                <a:off x="6905625" y="13144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B728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MLP</a:t>
                </a:r>
                <a:endParaRPr b="0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69" name="Google Shape;269;p10"/>
            <p:cNvGrpSpPr/>
            <p:nvPr/>
          </p:nvGrpSpPr>
          <p:grpSpPr>
            <a:xfrm>
              <a:off x="6905625" y="1600200"/>
              <a:ext cx="1743225" cy="171600"/>
              <a:chOff x="6905625" y="1600200"/>
              <a:chExt cx="1743225" cy="171600"/>
            </a:xfrm>
          </p:grpSpPr>
          <p:sp>
            <p:nvSpPr>
              <p:cNvPr id="270" name="Google Shape;270;p10"/>
              <p:cNvSpPr/>
              <p:nvPr/>
            </p:nvSpPr>
            <p:spPr>
              <a:xfrm>
                <a:off x="7239000" y="1600200"/>
                <a:ext cx="1095300" cy="171600"/>
              </a:xfrm>
              <a:prstGeom prst="rect">
                <a:avLst/>
              </a:prstGeom>
              <a:solidFill>
                <a:srgbClr val="EBF3FF"/>
              </a:solidFill>
              <a:ln cap="flat" cmpd="sng" w="4775">
                <a:solidFill>
                  <a:srgbClr val="017E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0"/>
              <p:cNvSpPr txBox="1"/>
              <p:nvPr/>
            </p:nvSpPr>
            <p:spPr>
              <a:xfrm>
                <a:off x="8362950" y="16002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B728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1.081</a:t>
                </a:r>
                <a:endParaRPr b="0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2" name="Google Shape;272;p10"/>
              <p:cNvSpPr txBox="1"/>
              <p:nvPr/>
            </p:nvSpPr>
            <p:spPr>
              <a:xfrm>
                <a:off x="6905625" y="16002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B728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GRU</a:t>
                </a:r>
                <a:endParaRPr b="0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73" name="Google Shape;273;p10"/>
            <p:cNvGrpSpPr/>
            <p:nvPr/>
          </p:nvGrpSpPr>
          <p:grpSpPr>
            <a:xfrm>
              <a:off x="6905625" y="1885950"/>
              <a:ext cx="1857525" cy="171600"/>
              <a:chOff x="6905625" y="1885950"/>
              <a:chExt cx="1857525" cy="171600"/>
            </a:xfrm>
          </p:grpSpPr>
          <p:sp>
            <p:nvSpPr>
              <p:cNvPr id="274" name="Google Shape;274;p10"/>
              <p:cNvSpPr/>
              <p:nvPr/>
            </p:nvSpPr>
            <p:spPr>
              <a:xfrm>
                <a:off x="7239000" y="1885950"/>
                <a:ext cx="1209600" cy="171600"/>
              </a:xfrm>
              <a:prstGeom prst="rect">
                <a:avLst/>
              </a:prstGeom>
              <a:solidFill>
                <a:srgbClr val="EBF3FF"/>
              </a:solidFill>
              <a:ln cap="flat" cmpd="sng" w="4775">
                <a:solidFill>
                  <a:srgbClr val="017E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0"/>
              <p:cNvSpPr txBox="1"/>
              <p:nvPr/>
            </p:nvSpPr>
            <p:spPr>
              <a:xfrm>
                <a:off x="8477250" y="18859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B728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1.192</a:t>
                </a:r>
                <a:endParaRPr b="0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6" name="Google Shape;276;p10"/>
              <p:cNvSpPr txBox="1"/>
              <p:nvPr/>
            </p:nvSpPr>
            <p:spPr>
              <a:xfrm>
                <a:off x="6905625" y="18859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B728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LSTM</a:t>
                </a:r>
                <a:endParaRPr b="0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77" name="Google Shape;277;p10"/>
            <p:cNvSpPr txBox="1"/>
            <p:nvPr/>
          </p:nvSpPr>
          <p:spPr>
            <a:xfrm>
              <a:off x="6949440" y="2238375"/>
              <a:ext cx="1965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2021-2023 reconstruction MSE</a:t>
              </a:r>
              <a:endParaRPr b="0" sz="7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10"/>
            <p:cNvSpPr txBox="1"/>
            <p:nvPr/>
          </p:nvSpPr>
          <p:spPr>
            <a:xfrm>
              <a:off x="6949440" y="2476500"/>
              <a:ext cx="1965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7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Lower is better. MLP has the lowest holdout reconstruction error.</a:t>
              </a:r>
              <a:endParaRPr b="0" i="1" sz="75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79" name="Google Shape;279;p10"/>
          <p:cNvSpPr/>
          <p:nvPr/>
        </p:nvSpPr>
        <p:spPr>
          <a:xfrm>
            <a:off x="411480" y="3090672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11480" y="3191256"/>
            <a:ext cx="8321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TRAINING DETAILS</a:t>
            </a:r>
            <a:endParaRPr b="1" sz="9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11480" y="3415284"/>
            <a:ext cx="8321100" cy="347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10"/>
          <p:cNvSpPr/>
          <p:nvPr/>
        </p:nvSpPr>
        <p:spPr>
          <a:xfrm>
            <a:off x="502920" y="3415284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Satellite encoder</a:t>
            </a:r>
            <a:endParaRPr b="1" sz="11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011680" y="3415284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ResNet-</a:t>
            </a:r>
            <a:r>
              <a:rPr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 BCE+Dice loss LR 3e-4 40 epochs batch 16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11480" y="3762756"/>
            <a:ext cx="83211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5" name="Google Shape;285;p10"/>
          <p:cNvSpPr/>
          <p:nvPr/>
        </p:nvSpPr>
        <p:spPr>
          <a:xfrm>
            <a:off x="502920" y="3762756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8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Economic encoder</a:t>
            </a:r>
            <a:endParaRPr b="1" sz="1018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011680" y="3762756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MLP Adam optimizer LR 1e-3 200 epochs (early stopping) MSE loss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11480" y="4110228"/>
            <a:ext cx="8321100" cy="347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8" name="Google Shape;288;p10"/>
          <p:cNvSpPr/>
          <p:nvPr/>
        </p:nvSpPr>
        <p:spPr>
          <a:xfrm>
            <a:off x="502920" y="4110228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Contrastive VAE</a:t>
            </a:r>
            <a:endParaRPr b="1" sz="11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011680" y="4110228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InfoNCE t=0.07 KL warmup 0.1 to 1.0 batch 32 16-D latent space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CONTRASTIVE VAE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CONTRASTIVE EMBEDDING VAE: </a:t>
            </a:r>
            <a:endParaRPr b="1" i="0" sz="18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MULTIMODAL ALIGNMENT </a:t>
            </a: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 MODALITY DROPOUT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96265" y="1043940"/>
            <a:ext cx="2190900" cy="1524000"/>
          </a:xfrm>
          <a:prstGeom prst="ellipse">
            <a:avLst/>
          </a:prstGeom>
          <a:solidFill>
            <a:srgbClr val="EBF3FF"/>
          </a:solidFill>
          <a:ln cap="flat" cmpd="sng" w="143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91515" y="1238250"/>
            <a:ext cx="2000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Embeddings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91515" y="1809750"/>
            <a:ext cx="2000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z_img (ResNet-</a:t>
            </a:r>
            <a:r>
              <a:rPr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18,</a:t>
            </a:r>
            <a:r>
              <a:rPr b="0"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, GHSL-finetuned)</a:t>
            </a:r>
            <a:endParaRPr b="0" i="1" sz="10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96265" y="2905125"/>
            <a:ext cx="2190900" cy="1524000"/>
          </a:xfrm>
          <a:prstGeom prst="ellipse">
            <a:avLst/>
          </a:prstGeom>
          <a:solidFill>
            <a:srgbClr val="FFF8E8"/>
          </a:solidFill>
          <a:ln cap="flat" cmpd="sng" w="143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91515" y="3095625"/>
            <a:ext cx="2000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Embeddings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91515" y="3667125"/>
            <a:ext cx="2000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z_econ (MLP encoder, 3 indicators)</a:t>
            </a:r>
            <a:endParaRPr b="0" i="1" sz="10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181350" y="1619250"/>
            <a:ext cx="2286000" cy="2190900"/>
          </a:xfrm>
          <a:prstGeom prst="ellipse">
            <a:avLst/>
          </a:prstGeom>
          <a:solidFill>
            <a:srgbClr val="F0FFF4"/>
          </a:solidFill>
          <a:ln cap="flat" cmpd="sng" w="143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276600" y="1714500"/>
            <a:ext cx="2095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Shared Latent Space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905250" y="2428875"/>
            <a:ext cx="190500" cy="190500"/>
          </a:xfrm>
          <a:prstGeom prst="ellipse">
            <a:avLst/>
          </a:prstGeom>
          <a:solidFill>
            <a:srgbClr val="017EFF"/>
          </a:solidFill>
          <a:ln cap="flat" cmpd="sng" w="1237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552950" y="2428875"/>
            <a:ext cx="190500" cy="190500"/>
          </a:xfrm>
          <a:prstGeom prst="ellipse">
            <a:avLst/>
          </a:prstGeom>
          <a:solidFill>
            <a:srgbClr val="022369"/>
          </a:solidFill>
          <a:ln cap="flat" cmpd="sng" w="1237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11"/>
          <p:cNvCxnSpPr/>
          <p:nvPr/>
        </p:nvCxnSpPr>
        <p:spPr>
          <a:xfrm>
            <a:off x="4114800" y="2524125"/>
            <a:ext cx="4191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1"/>
          <p:cNvSpPr/>
          <p:nvPr/>
        </p:nvSpPr>
        <p:spPr>
          <a:xfrm>
            <a:off x="3181350" y="2667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7B4B"/>
                </a:solidFill>
                <a:latin typeface="Montserrat"/>
                <a:ea typeface="Montserrat"/>
                <a:cs typeface="Montserrat"/>
                <a:sym typeface="Montserrat"/>
              </a:rPr>
              <a:t>matched - pulled together</a:t>
            </a:r>
            <a:endParaRPr b="1" sz="1000">
              <a:solidFill>
                <a:srgbClr val="1B7B4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905250" y="3048000"/>
            <a:ext cx="190500" cy="190500"/>
          </a:xfrm>
          <a:prstGeom prst="ellipse">
            <a:avLst/>
          </a:prstGeom>
          <a:solidFill>
            <a:srgbClr val="017EFF"/>
          </a:solidFill>
          <a:ln cap="flat" cmpd="sng" w="1237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552950" y="3048000"/>
            <a:ext cx="190500" cy="190500"/>
          </a:xfrm>
          <a:prstGeom prst="ellipse">
            <a:avLst/>
          </a:prstGeom>
          <a:solidFill>
            <a:srgbClr val="022369"/>
          </a:solidFill>
          <a:ln cap="flat" cmpd="sng" w="1237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133725"/>
            <a:ext cx="4191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3181350" y="3257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unmatched - pushed apart</a:t>
            </a:r>
            <a:endParaRPr b="0" sz="100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6" name="Google Shape;316;p11"/>
          <p:cNvCxnSpPr>
            <a:endCxn id="311" idx="1"/>
          </p:cNvCxnSpPr>
          <p:nvPr/>
        </p:nvCxnSpPr>
        <p:spPr>
          <a:xfrm>
            <a:off x="2744550" y="2000100"/>
            <a:ext cx="436800" cy="7812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1"/>
          <p:cNvCxnSpPr>
            <a:stCxn id="303" idx="6"/>
            <a:endCxn id="311" idx="1"/>
          </p:cNvCxnSpPr>
          <p:nvPr/>
        </p:nvCxnSpPr>
        <p:spPr>
          <a:xfrm flipH="1" rot="10800000">
            <a:off x="2787165" y="2781225"/>
            <a:ext cx="394200" cy="8859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1"/>
          <p:cNvSpPr/>
          <p:nvPr/>
        </p:nvSpPr>
        <p:spPr>
          <a:xfrm>
            <a:off x="5797550" y="125730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5797550" y="1257300"/>
            <a:ext cx="3048000" cy="57300"/>
          </a:xfrm>
          <a:prstGeom prst="rect">
            <a:avLst/>
          </a:prstGeom>
          <a:solidFill>
            <a:srgbClr val="017EFF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892800" y="135255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Multimodal contrastive alignment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892800" y="163830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Same city-year from both branches = positive pair. All others = negatives. Forces latent space to be economically ordered.</a:t>
            </a:r>
            <a:endParaRPr b="0" sz="10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797550" y="230505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797550" y="2305050"/>
            <a:ext cx="3048000" cy="57300"/>
          </a:xfrm>
          <a:prstGeom prst="rect">
            <a:avLst/>
          </a:prstGeom>
          <a:solidFill>
            <a:srgbClr val="E07B39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892800" y="240030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Modality dropout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892800" y="268605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Economic branch randomly zeroed during training. VAE learns to reconstruct from satellite alone, enabling satellite-only inference.</a:t>
            </a:r>
            <a:endParaRPr b="0" sz="92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797550" y="335280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797550" y="3352800"/>
            <a:ext cx="3048000" cy="57300"/>
          </a:xfrm>
          <a:prstGeom prst="rect">
            <a:avLst/>
          </a:prstGeom>
          <a:solidFill>
            <a:srgbClr val="96D12C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892800" y="344805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What the latent space encodes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892800" y="373380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Each 16-D point is a city-year encoding both urbanization structure and economic state. Nearby points are economically similar.</a:t>
            </a:r>
            <a:endParaRPr b="0" sz="10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 - LATENT SPACE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10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11480" y="310896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THE LATENT SPACE CREATES ECONOMIC NEIGHBORHOODS.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12"/>
          <p:cNvPicPr preferRelativeResize="0"/>
          <p:nvPr/>
        </p:nvPicPr>
        <p:blipFill rotWithShape="1">
          <a:blip r:embed="rId3">
            <a:alphaModFix/>
          </a:blip>
          <a:srcRect b="3652" l="0" r="0" t="3661"/>
          <a:stretch/>
        </p:blipFill>
        <p:spPr>
          <a:xfrm>
            <a:off x="411480" y="932688"/>
            <a:ext cx="8321100" cy="31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/>
          <p:nvPr/>
        </p:nvSpPr>
        <p:spPr>
          <a:xfrm>
            <a:off x="411480" y="4078224"/>
            <a:ext cx="8321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UMAP of 16-D shared latent space - colored by GDP growth (left) and unemployment rate (right).</a:t>
            </a:r>
            <a:endParaRPr b="0" i="1" sz="11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1148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11480" y="4352544"/>
            <a:ext cx="50400" cy="749700"/>
          </a:xfrm>
          <a:prstGeom prst="rect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521208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Economically ordered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21208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3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Color gradient is spatially coherent. Green = high GDP / low unemployment. Red = stagnant.</a:t>
            </a:r>
            <a:endParaRPr b="0" sz="853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23850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4352925"/>
            <a:ext cx="52500" cy="7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/>
          <p:nvPr/>
        </p:nvSpPr>
        <p:spPr>
          <a:xfrm>
            <a:off x="3347466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Not just geography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347466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3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Cities from different regions mix when economic trajectories align. The space is economic.</a:t>
            </a:r>
            <a:endParaRPr b="0" sz="853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06552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2663" y="4352925"/>
            <a:ext cx="57300" cy="7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174486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Validates retrieval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174486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3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If nearby points share economic state, k-NN retrieval finds useful analogues.</a:t>
            </a:r>
            <a:endParaRPr b="0" sz="93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 - LATENT SPACE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11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11480" y="310896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CITIES TRACE COHERENT ECONOMIC TRAJECTORIES THROUGH THE LATENT SPACE.</a:t>
            </a:r>
            <a:endParaRPr b="1" sz="145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3"/>
          <p:cNvPicPr preferRelativeResize="0"/>
          <p:nvPr/>
        </p:nvPicPr>
        <p:blipFill rotWithShape="1">
          <a:blip r:embed="rId3">
            <a:alphaModFix/>
          </a:blip>
          <a:srcRect b="70" l="0" r="0" t="60"/>
          <a:stretch/>
        </p:blipFill>
        <p:spPr>
          <a:xfrm>
            <a:off x="411480" y="952500"/>
            <a:ext cx="8321100" cy="33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411480" y="4333875"/>
            <a:ext cx="8321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35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Same UMAP - colored by city (left) and by year (right). Cities cluster across years; year gradient shows temporal ordering is preserved.</a:t>
            </a:r>
            <a:endParaRPr b="0" i="1" sz="935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11480" y="4619625"/>
            <a:ext cx="8321100" cy="428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11480" y="4619625"/>
            <a:ext cx="50400" cy="428700"/>
          </a:xfrm>
          <a:prstGeom prst="rect">
            <a:avLst/>
          </a:prstGeom>
          <a:solidFill>
            <a:srgbClr val="017EFF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530352" y="4619625"/>
            <a:ext cx="8119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The model was never given year labels. Temporal ordering emerges purely from the economic structure learned in the latent space.</a:t>
            </a:r>
            <a:endParaRPr b="0" sz="13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2 - K-NN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335275" y="310900"/>
            <a:ext cx="8640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7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PHASE 2: k-NN RETRIEVAL APPLIED AFTER THE LATENT SPACE</a:t>
            </a: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7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LEARNED.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914394" y="1135888"/>
            <a:ext cx="438900" cy="4389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914394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02330" y="1666240"/>
            <a:ext cx="1463100" cy="11703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48050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Query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48050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883658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2633466" y="1135888"/>
            <a:ext cx="438900" cy="4389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2633466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2121402" y="1666240"/>
            <a:ext cx="1463100" cy="11703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2167122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Finetuned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ResNet-18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167122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same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frozen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602730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352538" y="1135888"/>
            <a:ext cx="438900" cy="438900"/>
          </a:xfrm>
          <a:prstGeom prst="ellipse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4352538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840474" y="1666240"/>
            <a:ext cx="1463100" cy="1170300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3886194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onto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5321802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071610" y="1135888"/>
            <a:ext cx="438900" cy="4389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6071610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559546" y="1666240"/>
            <a:ext cx="1463100" cy="11703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5605266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Top-k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605266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 chosen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2019 val 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040874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7790682" y="1135888"/>
            <a:ext cx="438900" cy="438900"/>
          </a:xfrm>
          <a:prstGeom prst="ellipse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7790682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7278618" y="1666240"/>
            <a:ext cx="1463100" cy="1170300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7324338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Estimate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7324338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erage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02330" y="3001264"/>
            <a:ext cx="8321100" cy="274200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493770" y="3001264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Validation-guided model selection - 2019 val MAE used to select k and metric; tested on 2021-2023 holdout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402330" y="3284728"/>
            <a:ext cx="8321100" cy="2742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4937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2369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Val MAE (2019)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59801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Test MAE (2021-23)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02330" y="3568192"/>
            <a:ext cx="8321100" cy="2196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411480" y="3822192"/>
            <a:ext cx="50400" cy="2196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93770" y="3568192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Scaled Euclidean  k=8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3236970" y="3568192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1.159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980170" y="3568192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2.435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7790670" y="3568200"/>
            <a:ext cx="94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SELECTED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402330" y="3787648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493770" y="378764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Scaled Manhattan  k=8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3236970" y="378764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1.186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980170" y="378764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2.455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02330" y="4007104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93770" y="400710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3236970" y="400710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1.395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980170" y="4007104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2.488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02330" y="4226560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93770" y="4226560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3236970" y="4226560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1.320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5980170" y="4226560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2.504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02330" y="4446016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493770" y="444601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3236970" y="444601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1.995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980170" y="4446016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2.690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IMAGE-ONLY RETRIEVAL BEATS NAIVE BASELINES</a:t>
            </a:r>
            <a:endParaRPr b="1" sz="18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TEST MAE = 2.435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411480" y="932688"/>
            <a:ext cx="5212200" cy="567000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502920" y="932688"/>
            <a:ext cx="502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Given only a satellite image, we estimate a city's GDP growth within +/-$2.4B without any economic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7" name="Google Shape;447;p15"/>
          <p:cNvGrpSpPr/>
          <p:nvPr/>
        </p:nvGrpSpPr>
        <p:grpSpPr>
          <a:xfrm>
            <a:off x="409575" y="1571625"/>
            <a:ext cx="5305575" cy="2952750"/>
            <a:chOff x="409575" y="1571625"/>
            <a:chExt cx="5305575" cy="2952750"/>
          </a:xfrm>
        </p:grpSpPr>
        <p:sp>
          <p:nvSpPr>
            <p:cNvPr id="448" name="Google Shape;448;p15"/>
            <p:cNvSpPr/>
            <p:nvPr/>
          </p:nvSpPr>
          <p:spPr>
            <a:xfrm>
              <a:off x="1714500" y="1571625"/>
              <a:ext cx="39054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9" name="Google Shape;449;p15"/>
            <p:cNvCxnSpPr/>
            <p:nvPr/>
          </p:nvCxnSpPr>
          <p:spPr>
            <a:xfrm>
              <a:off x="1714500" y="1571625"/>
              <a:ext cx="0" cy="2667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6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15"/>
            <p:cNvCxnSpPr/>
            <p:nvPr/>
          </p:nvCxnSpPr>
          <p:spPr>
            <a:xfrm>
              <a:off x="1714500" y="4238625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6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51" name="Google Shape;451;p15"/>
            <p:cNvGrpSpPr/>
            <p:nvPr/>
          </p:nvGrpSpPr>
          <p:grpSpPr>
            <a:xfrm>
              <a:off x="409575" y="1714500"/>
              <a:ext cx="4876950" cy="333300"/>
              <a:chOff x="409575" y="1714500"/>
              <a:chExt cx="4876950" cy="333300"/>
            </a:xfrm>
          </p:grpSpPr>
          <p:sp>
            <p:nvSpPr>
              <p:cNvPr id="452" name="Google Shape;452;p15"/>
              <p:cNvSpPr/>
              <p:nvPr/>
            </p:nvSpPr>
            <p:spPr>
              <a:xfrm>
                <a:off x="1714500" y="1714500"/>
                <a:ext cx="3045600" cy="333300"/>
              </a:xfrm>
              <a:prstGeom prst="roundRect">
                <a:avLst>
                  <a:gd fmla="val 5714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5"/>
              <p:cNvSpPr txBox="1"/>
              <p:nvPr/>
            </p:nvSpPr>
            <p:spPr>
              <a:xfrm>
                <a:off x="409575" y="1714500"/>
                <a:ext cx="1257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525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Train mean</a:t>
                </a:r>
                <a:endParaRPr sz="10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54" name="Google Shape;454;p15"/>
              <p:cNvSpPr txBox="1"/>
              <p:nvPr/>
            </p:nvSpPr>
            <p:spPr>
              <a:xfrm>
                <a:off x="4810125" y="1714500"/>
                <a:ext cx="476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2.558</a:t>
                </a:r>
                <a:endParaRPr b="1" sz="11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55" name="Google Shape;455;p15"/>
            <p:cNvGrpSpPr/>
            <p:nvPr/>
          </p:nvGrpSpPr>
          <p:grpSpPr>
            <a:xfrm>
              <a:off x="409575" y="2190750"/>
              <a:ext cx="5305575" cy="428700"/>
              <a:chOff x="409575" y="2190750"/>
              <a:chExt cx="5305575" cy="428700"/>
            </a:xfrm>
          </p:grpSpPr>
          <p:sp>
            <p:nvSpPr>
              <p:cNvPr id="456" name="Google Shape;456;p15"/>
              <p:cNvSpPr/>
              <p:nvPr/>
            </p:nvSpPr>
            <p:spPr>
              <a:xfrm>
                <a:off x="1714500" y="2238375"/>
                <a:ext cx="3480000" cy="333300"/>
              </a:xfrm>
              <a:prstGeom prst="roundRect">
                <a:avLst>
                  <a:gd fmla="val 5714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5"/>
              <p:cNvSpPr txBox="1"/>
              <p:nvPr/>
            </p:nvSpPr>
            <p:spPr>
              <a:xfrm>
                <a:off x="409575" y="2190750"/>
                <a:ext cx="12573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525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Random retrieval (avg 100)</a:t>
                </a:r>
                <a:endParaRPr sz="10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58" name="Google Shape;458;p15"/>
              <p:cNvSpPr txBox="1"/>
              <p:nvPr/>
            </p:nvSpPr>
            <p:spPr>
              <a:xfrm>
                <a:off x="5238750" y="2238375"/>
                <a:ext cx="476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2.923</a:t>
                </a:r>
                <a:endParaRPr b="1" sz="11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59" name="Google Shape;459;p15"/>
            <p:cNvGrpSpPr/>
            <p:nvPr/>
          </p:nvGrpSpPr>
          <p:grpSpPr>
            <a:xfrm>
              <a:off x="409575" y="2762250"/>
              <a:ext cx="4638825" cy="333300"/>
              <a:chOff x="409575" y="2762250"/>
              <a:chExt cx="4638825" cy="333300"/>
            </a:xfrm>
          </p:grpSpPr>
          <p:sp>
            <p:nvSpPr>
              <p:cNvPr id="460" name="Google Shape;460;p15"/>
              <p:cNvSpPr/>
              <p:nvPr/>
            </p:nvSpPr>
            <p:spPr>
              <a:xfrm>
                <a:off x="1714500" y="2762250"/>
                <a:ext cx="2807400" cy="333300"/>
              </a:xfrm>
              <a:prstGeom prst="roundRect">
                <a:avLst>
                  <a:gd fmla="val 5714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5"/>
              <p:cNvSpPr txBox="1"/>
              <p:nvPr/>
            </p:nvSpPr>
            <p:spPr>
              <a:xfrm>
                <a:off x="409575" y="2762250"/>
                <a:ext cx="1257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525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Previous-year value</a:t>
                </a:r>
                <a:endParaRPr sz="10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62" name="Google Shape;462;p15"/>
              <p:cNvSpPr txBox="1"/>
              <p:nvPr/>
            </p:nvSpPr>
            <p:spPr>
              <a:xfrm>
                <a:off x="4572000" y="2762250"/>
                <a:ext cx="476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2.358</a:t>
                </a:r>
                <a:endParaRPr b="1" sz="11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63" name="Google Shape;463;p15"/>
            <p:cNvGrpSpPr/>
            <p:nvPr/>
          </p:nvGrpSpPr>
          <p:grpSpPr>
            <a:xfrm>
              <a:off x="409575" y="3286125"/>
              <a:ext cx="4810275" cy="333300"/>
              <a:chOff x="409575" y="3286125"/>
              <a:chExt cx="4810275" cy="333300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1714500" y="3286125"/>
                <a:ext cx="2981400" cy="333300"/>
              </a:xfrm>
              <a:prstGeom prst="roundRect">
                <a:avLst>
                  <a:gd fmla="val 5714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5"/>
              <p:cNvSpPr txBox="1"/>
              <p:nvPr/>
            </p:nvSpPr>
            <p:spPr>
              <a:xfrm>
                <a:off x="409575" y="3286125"/>
                <a:ext cx="1257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525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Cosine k=5</a:t>
                </a:r>
                <a:endParaRPr sz="10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66" name="Google Shape;466;p15"/>
              <p:cNvSpPr txBox="1"/>
              <p:nvPr/>
            </p:nvSpPr>
            <p:spPr>
              <a:xfrm>
                <a:off x="4743450" y="3286125"/>
                <a:ext cx="476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D314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2.504</a:t>
                </a:r>
                <a:endParaRPr b="1" sz="1100">
                  <a:solidFill>
                    <a:srgbClr val="2D314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67" name="Google Shape;467;p15"/>
            <p:cNvGrpSpPr/>
            <p:nvPr/>
          </p:nvGrpSpPr>
          <p:grpSpPr>
            <a:xfrm>
              <a:off x="409575" y="3762375"/>
              <a:ext cx="4734075" cy="428700"/>
              <a:chOff x="409575" y="3762375"/>
              <a:chExt cx="4734075" cy="428700"/>
            </a:xfrm>
          </p:grpSpPr>
          <p:sp>
            <p:nvSpPr>
              <p:cNvPr id="468" name="Google Shape;468;p15"/>
              <p:cNvSpPr/>
              <p:nvPr/>
            </p:nvSpPr>
            <p:spPr>
              <a:xfrm>
                <a:off x="1714500" y="3810000"/>
                <a:ext cx="2899200" cy="333300"/>
              </a:xfrm>
              <a:prstGeom prst="roundRect">
                <a:avLst>
                  <a:gd fmla="val 5714" name="adj"/>
                </a:avLst>
              </a:prstGeom>
              <a:solidFill>
                <a:srgbClr val="017E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5"/>
              <p:cNvSpPr txBox="1"/>
              <p:nvPr/>
            </p:nvSpPr>
            <p:spPr>
              <a:xfrm>
                <a:off x="409575" y="3762375"/>
                <a:ext cx="12573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525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2236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Scaled Euclidean k=8 (selected)</a:t>
                </a:r>
                <a:endParaRPr b="1" sz="1000">
                  <a:solidFill>
                    <a:srgbClr val="02236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70" name="Google Shape;470;p15"/>
              <p:cNvSpPr txBox="1"/>
              <p:nvPr/>
            </p:nvSpPr>
            <p:spPr>
              <a:xfrm>
                <a:off x="4667250" y="3810000"/>
                <a:ext cx="476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2236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2.435</a:t>
                </a:r>
                <a:endParaRPr b="1" sz="1100">
                  <a:solidFill>
                    <a:srgbClr val="02236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71" name="Google Shape;471;p15"/>
            <p:cNvSpPr txBox="1"/>
            <p:nvPr/>
          </p:nvSpPr>
          <p:spPr>
            <a:xfrm>
              <a:off x="1714500" y="4333875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2021-2023 test MAE on GDP growth</a:t>
              </a:r>
              <a:endParaRPr sz="9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72" name="Google Shape;472;p15"/>
          <p:cNvSpPr/>
          <p:nvPr/>
        </p:nvSpPr>
        <p:spPr>
          <a:xfrm>
            <a:off x="411480" y="4565105"/>
            <a:ext cx="5212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1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Tested on 2021-2023 holdout using satellite imagery only. Baselines use no imagery.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5806440" y="932688"/>
            <a:ext cx="2926200" cy="9600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5806440" y="96012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MAE = 2.435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5806440" y="141732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growth  B USD  satellite only at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5806440" y="1975104"/>
            <a:ext cx="2926200" cy="8961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5806440" y="1975104"/>
            <a:ext cx="50400" cy="8688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5897880" y="2011680"/>
            <a:ext cx="277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Learned analogues beat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random guessing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5897880" y="2377440"/>
            <a:ext cx="277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The latent space retrieves economically meaningful neighbors, not random city-years.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806440" y="2944368"/>
            <a:ext cx="2926200" cy="8961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806440" y="2944368"/>
            <a:ext cx="50400" cy="8688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5897880" y="2980944"/>
            <a:ext cx="277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Satellite imagery becomes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economically searchable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5897880" y="3346704"/>
            <a:ext cx="277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Multimodal training gives the image encoder economic signal it could not learn from imagery alone.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806440" y="3913632"/>
            <a:ext cx="2926200" cy="8961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806440" y="3913632"/>
            <a:ext cx="50400" cy="8688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5897880" y="3950208"/>
            <a:ext cx="277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Image-only inference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outperforms naive 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897880" y="4315968"/>
            <a:ext cx="277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Satellite-only retrieval beats train-mean and random baselines at test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3644125" y="9138775"/>
            <a:ext cx="81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CONCLUSIONS &amp; NEXT STEPS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14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11480" y="310515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FROM SATELLITE IMAGERY TO ECONOMIC INTELLIGENCE.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411480" y="904875"/>
            <a:ext cx="8321100" cy="1666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411480" y="904875"/>
            <a:ext cx="8321100" cy="38100"/>
          </a:xfrm>
          <a:prstGeom prst="rect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02920" y="1000125"/>
            <a:ext cx="82296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WHAT WE CAN DO NOW</a:t>
            </a:r>
            <a:endParaRPr b="1" sz="85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02920" y="1238250"/>
            <a:ext cx="81381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Given a new city at a new point in time, we can make an informed estimate of its economic state: GDP growth and unemployment, using only satellite imagery.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02920" y="1666875"/>
            <a:ext cx="81381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This matters most where economic data is delayed, sparse, or unavailable: developing regions, fast-growing secondary cities, post-crisis monitoring.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With a larger worldwide retrieval bank, cities in the same economic region cluster together, and satellite images of unknown cities can be placed into that economic neighborhood.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11480" y="2667000"/>
            <a:ext cx="4048200" cy="23337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502920" y="2714625"/>
            <a:ext cx="39318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WHAT WE BUILT</a:t>
            </a:r>
            <a:endParaRPr b="1" sz="85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45592" y="3019425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768096" y="295275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Contrastive Embedding VAE: aligns pre-trained satellite and economic embeddings into a shared 16-D economic latent space.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45592" y="3638550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768096" y="3571875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GHSL supervision for ResNet: encoder learns urbanization density, not just pixel color (+16% centroid separation).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45592" y="4257675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768096" y="419100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k-NN retrieval in latent space: interpretable, parameter-free Phase 2 separate from training.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4684395" y="2667000"/>
            <a:ext cx="4048200" cy="23337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4775835" y="2714625"/>
            <a:ext cx="39318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96D12C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850">
              <a:solidFill>
                <a:srgbClr val="96D1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747260" y="3033713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4974336" y="295275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Scale to 1,000+ cities with Sentinel-2 (10m) for richer retrieval and less sample-limited analogues.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4747260" y="3652838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4974336" y="3571875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Test on developing-nation metros where economic data is sparse: the primary target use case.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4747260" y="4271963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4974336" y="419100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Sliding-window contrastive learning to capture richer temporal economic dynamics.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